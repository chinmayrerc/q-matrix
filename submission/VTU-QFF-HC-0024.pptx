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1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A1F8C-B10B-C84D-94FC-B3DA01C1C20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02761-92A6-8544-9B98-D45CEE3CC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36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Team code: VTU-QFF-HC-0024. Project: Q-matrix · Quantum Space. Public repository: https://github.com/vtu-qiskit-fall-fest-2026/vtu-hc-q-matrix. Live demo: https://chinmayrerc.github.io/q-matrix/.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Problem framing from the 176-topic curriculum audit and the 7-stage lesson design. No learner PII is collected; progress is local-first.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Metrics are counted from src/content/topics.generated.ts and src/lib/challenges.ts. Tests: 120 Vitest + 12 API + 15 Qiskit = 147.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simulator is implemented in TypeScript; the backend mirrors the same statevector contract in NumPy for API parity. NVIDIA model: nvidia/nemotron-3.5-lightning-30b-a3b.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Circuit rendered with Qiskit 2.5.2. Reference implementations live in qiskit_ref/ and are exercised by 15 pytest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Deployment: https://q-matrix.onrender.com (Docker) and https://chinmayrerc.github.io/q-matrix/ (static). The API key is never bundled in the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left panel is an actual Aer run with depolarising + readout error (seed 7). The right panel reports the repository's automated checks, not a projected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Impact hypothesis: a browser-native, grounded lab removes the two biggest drop-off points we observed: environment setup and ungrounded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roadmap prioritises hardware-backed labs and classroom pilots; the current build is intentionally local-first and single-user.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Public repo: https://github.com/vtu-qiskit-fall-fest-2026/vtu-hc-q-matrix. Live demo: https://chinmayrerc.github.io/q-matrix/. Demo video: https://github.com/ChinmayRERC/q-matrix/blob/main/docs/q-matrix-demo.mp4. API: https://q-matrix.onrender.com.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  <p:pic>
        <p:nvPicPr>
          <p:cNvPr id="19" name="Image 3" descr="sphe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822960"/>
            <a:ext cx="777240" cy="777240"/>
          </a:xfrm>
          <a:prstGeom prst="rect">
            <a:avLst/>
          </a:prstGeom>
        </p:spPr>
      </p:pic>
      <p:pic>
        <p:nvPicPr>
          <p:cNvPr id="20" name="Image 4" descr="bird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868680"/>
            <a:ext cx="548640" cy="329184"/>
          </a:xfrm>
          <a:prstGeom prst="rect">
            <a:avLst/>
          </a:prstGeom>
        </p:spPr>
      </p:pic>
      <p:pic>
        <p:nvPicPr>
          <p:cNvPr id="21" name="Image 5" descr="bir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1261872"/>
            <a:ext cx="384048" cy="228600"/>
          </a:xfrm>
          <a:prstGeom prst="rect">
            <a:avLst/>
          </a:prstGeom>
        </p:spPr>
      </p:pic>
      <p:sp>
        <p:nvSpPr>
          <p:cNvPr id="2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hyperlink" Target="https://github.com/ChinmayRERC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hyperlink" Target="https://github.com/vtu-qiskit-fall-fest-2026/vtu-hc-q-matrix" TargetMode="External"/><Relationship Id="rId8" Type="http://schemas.openxmlformats.org/officeDocument/2006/relationships/hyperlink" Target="https://chinmayrerc.github.io/q-matrix/" TargetMode="External"/><Relationship Id="rId9" Type="http://schemas.openxmlformats.org/officeDocument/2006/relationships/hyperlink" Target="https://github.com/ChinmayRERC/q-matrix/blob/main/docs/q-matrix-demo.mp4" TargetMode="External"/><Relationship Id="rId10" Type="http://schemas.openxmlformats.org/officeDocument/2006/relationships/hyperlink" Target="https://q-matrix.onrender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PRESENTATION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Qiskit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 Fest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· Team Details</a:t>
            </a:r>
            <a:endParaRPr lang="en-US" sz="1300" dirty="0"/>
          </a:p>
        </p:txBody>
      </p:sp>
      <p:pic>
        <p:nvPicPr>
          <p:cNvPr id="5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91840"/>
            <a:ext cx="1371600" cy="1371600"/>
          </a:xfrm>
          <a:prstGeom prst="rect">
            <a:avLst/>
          </a:prstGeom>
        </p:spPr>
      </p:pic>
      <p:pic>
        <p:nvPicPr>
          <p:cNvPr id="6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3429000"/>
            <a:ext cx="731520" cy="438912"/>
          </a:xfrm>
          <a:prstGeom prst="rect">
            <a:avLst/>
          </a:prstGeom>
        </p:spPr>
      </p:pic>
      <p:pic>
        <p:nvPicPr>
          <p:cNvPr id="7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3977640"/>
            <a:ext cx="502920" cy="301752"/>
          </a:xfrm>
          <a:prstGeom prst="rect">
            <a:avLst/>
          </a:prstGeom>
        </p:spPr>
      </p:pic>
      <p:pic>
        <p:nvPicPr>
          <p:cNvPr id="8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1720" y="4297680"/>
            <a:ext cx="384048" cy="2286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023360" y="8412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Participant Details</a:t>
            </a:r>
            <a:endParaRPr lang="en-US" sz="1600" dirty="0"/>
          </a:p>
        </p:txBody>
      </p:sp>
      <p:sp>
        <p:nvSpPr>
          <p:cNvPr id="10" name="Field: PROJECT TITLE"/>
          <p:cNvSpPr/>
          <p:nvPr/>
        </p:nvSpPr>
        <p:spPr>
          <a:xfrm>
            <a:off x="4023360" y="1261872"/>
            <a:ext cx="46634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900" dirty="0"/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E1B5B"/>
                </a:solidFill>
                <a:latin typeface="Calibri"/>
              </a:rPr>
              <a:t>Q-matrix · Quantum Space</a:t>
            </a:r>
          </a:p>
        </p:txBody>
      </p:sp>
      <p:sp>
        <p:nvSpPr>
          <p:cNvPr id="11" name="Field: TRACK"/>
          <p:cNvSpPr/>
          <p:nvPr/>
        </p:nvSpPr>
        <p:spPr>
          <a:xfrm>
            <a:off x="402336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00" dirty="0"/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E1B5B"/>
                </a:solidFill>
                <a:latin typeface="Calibri"/>
              </a:rPr>
              <a:t>Quantum Education &amp; Learning</a:t>
            </a:r>
          </a:p>
        </p:txBody>
      </p:sp>
      <p:sp>
        <p:nvSpPr>
          <p:cNvPr id="12" name="Field: TEAM NAME"/>
          <p:cNvSpPr/>
          <p:nvPr/>
        </p:nvSpPr>
        <p:spPr>
          <a:xfrm>
            <a:off x="640080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900" dirty="0"/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E1B5B"/>
                </a:solidFill>
                <a:latin typeface="Calibri"/>
              </a:rPr>
              <a:t>Q-matrix</a:t>
            </a:r>
          </a:p>
        </p:txBody>
      </p:sp>
      <p:sp>
        <p:nvSpPr>
          <p:cNvPr id="13" name="Field: TEAM LEADER"/>
          <p:cNvSpPr/>
          <p:nvPr/>
        </p:nvSpPr>
        <p:spPr>
          <a:xfrm>
            <a:off x="402336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900" dirty="0"/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E1B5B"/>
                </a:solidFill>
                <a:latin typeface="Calibri"/>
              </a:rPr>
              <a:t>Chinmay R</a:t>
            </a:r>
          </a:p>
        </p:txBody>
      </p:sp>
      <p:sp>
        <p:nvSpPr>
          <p:cNvPr id="14" name="Field: EMAIL / CONTACT"/>
          <p:cNvSpPr/>
          <p:nvPr/>
        </p:nvSpPr>
        <p:spPr>
          <a:xfrm>
            <a:off x="640080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CONTACT</a:t>
            </a:r>
            <a:endParaRPr lang="en-US" sz="900" dirty="0"/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E1B5B"/>
                </a:solidFill>
                <a:latin typeface="Calibri"/>
                <a:hlinkClick r:id="rId7"/>
              </a:rPr>
              <a:t>github.com/ChinmayRERC</a:t>
            </a:r>
          </a:p>
        </p:txBody>
      </p:sp>
      <p:sp>
        <p:nvSpPr>
          <p:cNvPr id="15" name="Field: TEAM MEMBERS"/>
          <p:cNvSpPr/>
          <p:nvPr/>
        </p:nvSpPr>
        <p:spPr>
          <a:xfrm>
            <a:off x="4023360" y="3072384"/>
            <a:ext cx="4663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 dirty="0"/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2E1B5B"/>
                </a:solidFill>
                <a:latin typeface="Calibri"/>
              </a:rPr>
              <a:t>Chinmay R  ·  M Naveen  ·  Thulasi Ram M</a:t>
            </a:r>
          </a:p>
        </p:txBody>
      </p:sp>
      <p:sp>
        <p:nvSpPr>
          <p:cNvPr id="16" name="Field: INSTITUTION / ORGANISATION"/>
          <p:cNvSpPr/>
          <p:nvPr/>
        </p:nvSpPr>
        <p:spPr>
          <a:xfrm>
            <a:off x="402336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/ ORGANISATION</a:t>
            </a:r>
            <a:endParaRPr lang="en-US" sz="900" dirty="0"/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2E1B5B"/>
                </a:solidFill>
                <a:latin typeface="Calibri"/>
              </a:rPr>
              <a:t>Visvesvaraya Technological University</a:t>
            </a:r>
          </a:p>
        </p:txBody>
      </p:sp>
      <p:sp>
        <p:nvSpPr>
          <p:cNvPr id="17" name="Field: COUNTRY"/>
          <p:cNvSpPr/>
          <p:nvPr/>
        </p:nvSpPr>
        <p:spPr>
          <a:xfrm>
            <a:off x="640080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900" dirty="0"/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2E1B5B"/>
                </a:solidFill>
                <a:latin typeface="Calibri"/>
              </a:rPr>
              <a:t>India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517136"/>
            <a:ext cx="4709160" cy="21945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850" b="1" i="0">
                <a:solidFill>
                  <a:srgbClr val="E8639F"/>
                </a:solidFill>
                <a:latin typeface="Calibri"/>
              </a:rPr>
              <a:t>TEAM CODE   VTU-QFF-HC-0024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1856231"/>
            <a:ext cx="7726679" cy="2606040"/>
          </a:xfrm>
          <a:prstGeom prst="rect">
            <a:avLst/>
          </a:prstGeom>
          <a:noFill/>
          <a:ln/>
        </p:spPr>
        <p:txBody>
          <a:bodyPr wrap="square" lIns="36576" tIns="0" rIns="36576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80" b="1" i="0">
                <a:solidFill>
                  <a:srgbClr val="5B3BA8"/>
                </a:solidFill>
                <a:latin typeface="Calibri"/>
              </a:rPr>
              <a:t>THE GAP</a:t>
            </a:r>
            <a:endParaRPr lang="en-US" sz="12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Quantum courses explain amplitudes, but learners cannot see them; notebooks and cloud queues add friction before the first insight.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Generic AI tutors hallucinate circuits and cannot read the learner's live state or mistake.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Instructors receive completion ticks, not evidence of conceptual change.</a:t>
            </a:r>
          </a:p>
          <a:p>
            <a:pPr>
              <a:lnSpc>
                <a:spcPct val="100000"/>
              </a:lnSpc>
              <a:spcBef>
                <a:spcPts val="550"/>
              </a:spcBef>
              <a:spcAft>
                <a:spcPts val="200"/>
              </a:spcAft>
            </a:pPr>
            <a:r>
              <a:rPr sz="980" b="1" i="0">
                <a:solidFill>
                  <a:srgbClr val="5B3BA8"/>
                </a:solidFill>
                <a:latin typeface="Calibri"/>
              </a:rPr>
              <a:t>WHO FEELS IT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Students in low-resource colleges without lab hardware or paid cloud credits.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Self-learners who stall between a video and a working Qiskit program.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Teachers who need a defensible mastery signal, not another quiz score.</a:t>
            </a:r>
          </a:p>
          <a:p>
            <a:pPr>
              <a:lnSpc>
                <a:spcPct val="100000"/>
              </a:lnSpc>
              <a:spcBef>
                <a:spcPts val="550"/>
              </a:spcBef>
              <a:spcAft>
                <a:spcPts val="200"/>
              </a:spcAft>
            </a:pPr>
            <a:r>
              <a:rPr sz="980" b="1" i="0">
                <a:solidFill>
                  <a:srgbClr val="5B3BA8"/>
                </a:solidFill>
                <a:latin typeface="Calibri"/>
              </a:rPr>
              <a:t>DESIGN GOAL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One browser workspace: learn → build → simulate → export real Qiskit.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Grounded feedback from the circuit itself; every secret stays server-side.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 &amp; Novelty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1856231"/>
            <a:ext cx="7726679" cy="2606040"/>
          </a:xfrm>
          <a:prstGeom prst="rect">
            <a:avLst/>
          </a:prstGeom>
          <a:noFill/>
          <a:ln/>
        </p:spPr>
        <p:txBody>
          <a:bodyPr wrap="square" lIns="36576" tIns="0" rIns="36576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80" b="1" i="0">
                <a:solidFill>
                  <a:srgbClr val="5B3BA8"/>
                </a:solidFill>
                <a:latin typeface="Calibri"/>
              </a:rPr>
              <a:t>OBJECTIVES</a:t>
            </a:r>
            <a:endParaRPr lang="en-US" sz="12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Make quantum literacy measurable: a 7-stage loop from intuition to Qiskit export.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Ground every tutor answer in the live circuit, simulator state and static analysis.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Give educators an auditable mastery trail: BKT posterior, gain and challenge record.</a:t>
            </a:r>
          </a:p>
          <a:p>
            <a:pPr>
              <a:lnSpc>
                <a:spcPct val="100000"/>
              </a:lnSpc>
              <a:spcBef>
                <a:spcPts val="550"/>
              </a:spcBef>
              <a:spcAft>
                <a:spcPts val="200"/>
              </a:spcAft>
            </a:pPr>
            <a:r>
              <a:rPr sz="980" b="1" i="0">
                <a:solidFill>
                  <a:srgbClr val="5B3BA8"/>
                </a:solidFill>
                <a:latin typeface="Calibri"/>
              </a:rPr>
              <a:t>NOVELTY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Agent-reviewed content pipeline: deterministic analyzer + NVIDIA Nemotron tutor.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Challenge mode loads scaffolds, never solutions; Reset restores a clean start.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Browser-native density simulation with noise, mid-circuit measurement and feed-forward.</a:t>
            </a:r>
          </a:p>
          <a:p>
            <a:pPr>
              <a:lnSpc>
                <a:spcPct val="100000"/>
              </a:lnSpc>
              <a:spcBef>
                <a:spcPts val="550"/>
              </a:spcBef>
              <a:spcAft>
                <a:spcPts val="200"/>
              </a:spcAft>
            </a:pPr>
            <a:r>
              <a:rPr sz="980" b="1" i="0">
                <a:solidFill>
                  <a:srgbClr val="5B3BA8"/>
                </a:solidFill>
                <a:latin typeface="Calibri"/>
              </a:rPr>
              <a:t>SCALE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176 topics · 20 domains · 8 learning paths · 13 circuit templates · 11 challenges.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147 automated checks, including 15 Qiskit 2.5.2 reference-algorithm tests.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&amp; Quantum Advantage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1856231"/>
            <a:ext cx="7726679" cy="2606040"/>
          </a:xfrm>
          <a:prstGeom prst="rect">
            <a:avLst/>
          </a:prstGeom>
          <a:noFill/>
          <a:ln/>
        </p:spPr>
        <p:txBody>
          <a:bodyPr wrap="square" lIns="36576" tIns="0" rIns="36576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80" b="1" i="0">
                <a:solidFill>
                  <a:srgbClr val="5B3BA8"/>
                </a:solidFill>
                <a:latin typeface="Calibri"/>
              </a:rPr>
              <a:t>WHAT WE BUILT</a:t>
            </a:r>
            <a:endParaRPr lang="en-US" sz="12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Q-matrix is the app, Quantum Space is the platform, Chinnu is the grounded tutor.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Learn → Compose → Practice → Galaxy → Progress: one continuous learning loop.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React SPA + FastAPI on Render; GitHub Pages demo; NVIDIA Nemotron 3.5 Lightning server-side.</a:t>
            </a:r>
          </a:p>
          <a:p>
            <a:pPr>
              <a:lnSpc>
                <a:spcPct val="100000"/>
              </a:lnSpc>
              <a:spcBef>
                <a:spcPts val="550"/>
              </a:spcBef>
              <a:spcAft>
                <a:spcPts val="200"/>
              </a:spcAft>
            </a:pPr>
            <a:r>
              <a:rPr sz="980" b="1" i="0">
                <a:solidFill>
                  <a:srgbClr val="5B3BA8"/>
                </a:solidFill>
                <a:latin typeface="Calibri"/>
              </a:rPr>
              <a:t>QUANTUM ADVANTAGE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Real statevector/density simulation exposes superposition, interference, entanglement and measurement.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Noise and feed-forward are first-class: teleportation and mid-circuit correction run in-browser.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Every artifact is portable: OpenQASM 2.0, Qiskit, Cirq and PennyLane exports.</a:t>
            </a:r>
          </a:p>
          <a:p>
            <a:pPr>
              <a:lnSpc>
                <a:spcPct val="100000"/>
              </a:lnSpc>
              <a:spcBef>
                <a:spcPts val="550"/>
              </a:spcBef>
              <a:spcAft>
                <a:spcPts val="200"/>
              </a:spcAft>
            </a:pPr>
            <a:r>
              <a:rPr sz="980" b="1" i="0">
                <a:solidFill>
                  <a:srgbClr val="5B3BA8"/>
                </a:solidFill>
                <a:latin typeface="Calibri"/>
              </a:rPr>
              <a:t>WHY NOW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Qiskit 2.5.2 maturity + browser compute + grounded LLMs = a real quantum classroom.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&amp; Circuit Design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88152" y="1856231"/>
            <a:ext cx="2697480" cy="2697480"/>
          </a:xfrm>
          <a:prstGeom prst="rect">
            <a:avLst/>
          </a:prstGeom>
          <a:noFill/>
          <a:ln/>
        </p:spPr>
        <p:txBody>
          <a:bodyPr wrap="square" lIns="36576" tIns="0" rIns="36576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869" b="1" i="0">
                <a:solidFill>
                  <a:srgbClr val="5B3BA8"/>
                </a:solidFill>
                <a:latin typeface="Calibri"/>
              </a:rPr>
              <a:t>ALGORITHM</a:t>
            </a:r>
            <a:endParaRPr lang="en-US" sz="12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835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835" b="0" i="0">
                <a:solidFill>
                  <a:srgbClr val="3A2D63"/>
                </a:solidFill>
                <a:latin typeface="Calibri"/>
              </a:rPr>
              <a:t>GHZ: H(q0), CNOT(q0,q1), CNOT(q1,q2) → (|000⟩+|111⟩)/√2.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835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835" b="0" i="0">
                <a:solidFill>
                  <a:srgbClr val="3A2D63"/>
                </a:solidFill>
                <a:latin typeface="Calibri"/>
              </a:rPr>
              <a:t>Each column is one simultaneous moment; gates in a column commute.</a:t>
            </a:r>
          </a:p>
          <a:p>
            <a:pPr>
              <a:lnSpc>
                <a:spcPct val="100000"/>
              </a:lnSpc>
              <a:spcBef>
                <a:spcPts val="550"/>
              </a:spcBef>
              <a:spcAft>
                <a:spcPts val="200"/>
              </a:spcAft>
            </a:pPr>
            <a:r>
              <a:rPr sz="869" b="1" i="0">
                <a:solidFill>
                  <a:srgbClr val="5B3BA8"/>
                </a:solidFill>
                <a:latin typeface="Calibri"/>
              </a:rPr>
              <a:t>ENGINE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835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835" b="0" i="0">
                <a:solidFill>
                  <a:srgbClr val="3A2D63"/>
                </a:solidFill>
                <a:latin typeface="Calibri"/>
              </a:rPr>
              <a:t>Statevector for ideal runs, density matrix for noise; measurement collapse + `if_test` feed-forward.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835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835" b="0" i="0">
                <a:solidFill>
                  <a:srgbClr val="3A2D63"/>
                </a:solidFill>
                <a:latin typeface="Calibri"/>
              </a:rPr>
              <a:t>QASM parser reconstructs moments with per-qubit scheduling.</a:t>
            </a:r>
          </a:p>
          <a:p>
            <a:pPr>
              <a:lnSpc>
                <a:spcPct val="100000"/>
              </a:lnSpc>
              <a:spcBef>
                <a:spcPts val="550"/>
              </a:spcBef>
              <a:spcAft>
                <a:spcPts val="200"/>
              </a:spcAft>
            </a:pPr>
            <a:r>
              <a:rPr sz="869" b="1" i="0">
                <a:solidFill>
                  <a:srgbClr val="5B3BA8"/>
                </a:solidFill>
                <a:latin typeface="Calibri"/>
              </a:rPr>
              <a:t>EVIDENCE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835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835" b="0" i="0">
                <a:solidFill>
                  <a:srgbClr val="3A2D63"/>
                </a:solidFill>
                <a:latin typeface="Calibri"/>
              </a:rPr>
              <a:t>Bell/GHZ, Deutsch–Jozsa, Bernstein–Vazirani, Grover, QFT, QPE, teleportation, noisy Bell.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835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835" b="0" i="0">
                <a:solidFill>
                  <a:srgbClr val="3A2D63"/>
                </a:solidFill>
                <a:latin typeface="Calibri"/>
              </a:rPr>
              <a:t>Web QFT matches QFTGate to 1e-12; Bell payload returns [0.5, 0, 0, 0.5].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  <p:pic>
        <p:nvPicPr>
          <p:cNvPr id="26" name="Picture 25" descr="ghz_circu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493776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&amp; Tech Stack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1856231"/>
            <a:ext cx="7726679" cy="2606040"/>
          </a:xfrm>
          <a:prstGeom prst="rect">
            <a:avLst/>
          </a:prstGeom>
          <a:noFill/>
          <a:ln/>
        </p:spPr>
        <p:txBody>
          <a:bodyPr wrap="square" lIns="36576" tIns="0" rIns="36576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80" b="1" i="0">
                <a:solidFill>
                  <a:srgbClr val="5B3BA8"/>
                </a:solidFill>
                <a:latin typeface="Calibri"/>
              </a:rPr>
              <a:t>FRONTEND</a:t>
            </a:r>
            <a:endParaRPr lang="en-US" sz="12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React 19 + Vite + TypeScript; custom SVG circuit board with keyboard placement and ARIA labels.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Hash routing keeps GitHub Pages deep links working without rewrites.</a:t>
            </a:r>
          </a:p>
          <a:p>
            <a:pPr>
              <a:lnSpc>
                <a:spcPct val="100000"/>
              </a:lnSpc>
              <a:spcBef>
                <a:spcPts val="550"/>
              </a:spcBef>
              <a:spcAft>
                <a:spcPts val="200"/>
              </a:spcAft>
            </a:pPr>
            <a:r>
              <a:rPr sz="980" b="1" i="0">
                <a:solidFill>
                  <a:srgbClr val="5B3BA8"/>
                </a:solidFill>
                <a:latin typeface="Calibri"/>
              </a:rPr>
              <a:t>QUANTUM CORE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TypeScript complex arithmetic; statevector and density simulation; QASM import/export.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13 templates; optimizer; static analyzer; Qiskit/Cirq/PennyLane exporters.</a:t>
            </a:r>
          </a:p>
          <a:p>
            <a:pPr>
              <a:lnSpc>
                <a:spcPct val="100000"/>
              </a:lnSpc>
              <a:spcBef>
                <a:spcPts val="550"/>
              </a:spcBef>
              <a:spcAft>
                <a:spcPts val="200"/>
              </a:spcAft>
            </a:pPr>
            <a:r>
              <a:rPr sz="980" b="1" i="0">
                <a:solidFill>
                  <a:srgbClr val="5B3BA8"/>
                </a:solidFill>
                <a:latin typeface="Calibri"/>
              </a:rPr>
              <a:t>BACKEND &amp; INFRA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FastAPI proxy keeps NVIDIA_API_KEY server-side; deterministic fallback when offline.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Single-origin Docker service on Render; GitHub Actions deploys the static demo.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176-topic generated curriculum; BKT mastery and CSV/JSON educator export.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Analysis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EEF0FE"/>
          </a:solidFill>
          <a:ln w="15875">
            <a:solidFill>
              <a:srgbClr val="7C93F0"/>
            </a:solidFill>
            <a:prstDash val="dash"/>
          </a:ln>
        </p:spPr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88152" y="1856231"/>
            <a:ext cx="2697480" cy="2697480"/>
          </a:xfrm>
          <a:prstGeom prst="rect">
            <a:avLst/>
          </a:prstGeom>
          <a:noFill/>
          <a:ln/>
        </p:spPr>
        <p:txBody>
          <a:bodyPr wrap="square" lIns="36576" tIns="0" rIns="36576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869" b="1" i="0">
                <a:solidFill>
                  <a:srgbClr val="5B3BA8"/>
                </a:solidFill>
                <a:latin typeface="Calibri"/>
              </a:rPr>
              <a:t>WHAT THE DATA SHOWS</a:t>
            </a:r>
            <a:endParaRPr lang="en-US" sz="12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835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835" b="0" i="0">
                <a:solidFill>
                  <a:srgbClr val="3A2D63"/>
                </a:solidFill>
                <a:latin typeface="Calibri"/>
              </a:rPr>
              <a:t>Ideal Bell: 4,095 / 4,097 counts for |00⟩ / |11⟩ in 8,192 shots.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835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835" b="0" i="0">
                <a:solidFill>
                  <a:srgbClr val="3A2D63"/>
                </a:solidFill>
                <a:latin typeface="Calibri"/>
              </a:rPr>
              <a:t>Noise moves 7.7% of shots into |01⟩/|10⟩ and lowers purity; the UI surfaces entropy and concurrence.</a:t>
            </a:r>
          </a:p>
          <a:p>
            <a:pPr>
              <a:lnSpc>
                <a:spcPct val="100000"/>
              </a:lnSpc>
              <a:spcBef>
                <a:spcPts val="550"/>
              </a:spcBef>
              <a:spcAft>
                <a:spcPts val="200"/>
              </a:spcAft>
            </a:pPr>
            <a:r>
              <a:rPr sz="869" b="1" i="0">
                <a:solidFill>
                  <a:srgbClr val="5B3BA8"/>
                </a:solidFill>
                <a:latin typeface="Calibri"/>
              </a:rPr>
              <a:t>VERIFICATION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835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835" b="0" i="0">
                <a:solidFill>
                  <a:srgbClr val="3A2D63"/>
                </a:solidFill>
                <a:latin typeface="Calibri"/>
              </a:rPr>
              <a:t>120 Vitest + 12 API + 15 Qiskit = 147/147 passing.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835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835" b="0" i="0">
                <a:solidFill>
                  <a:srgbClr val="3A2D63"/>
                </a:solidFill>
                <a:latin typeface="Calibri"/>
              </a:rPr>
              <a:t>QFT vs QFTGate: max error 1.2e-12; TypeScript strict; production build clean.</a:t>
            </a:r>
          </a:p>
          <a:p>
            <a:pPr>
              <a:lnSpc>
                <a:spcPct val="100000"/>
              </a:lnSpc>
              <a:spcBef>
                <a:spcPts val="550"/>
              </a:spcBef>
              <a:spcAft>
                <a:spcPts val="200"/>
              </a:spcAft>
            </a:pPr>
            <a:r>
              <a:rPr sz="869" b="1" i="0">
                <a:solidFill>
                  <a:srgbClr val="5B3BA8"/>
                </a:solidFill>
                <a:latin typeface="Calibri"/>
              </a:rPr>
              <a:t>LIVE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835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835" b="0" i="0">
                <a:solidFill>
                  <a:srgbClr val="3A2D63"/>
                </a:solidFill>
                <a:latin typeface="Calibri"/>
              </a:rPr>
              <a:t>API health: numpy-statevector + NVIDIA; tutor verified end-to-end on Pages.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835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835" b="0" i="0">
                <a:solidFill>
                  <a:srgbClr val="3A2D63"/>
                </a:solidFill>
                <a:latin typeface="Calibri"/>
              </a:rPr>
              <a:t>Bell API returns [0.5, 0, 0, 0.5].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  <p:pic>
        <p:nvPicPr>
          <p:cNvPr id="26" name="Picture 25" descr="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493776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Real-World Applications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1856231"/>
            <a:ext cx="7726679" cy="2606040"/>
          </a:xfrm>
          <a:prstGeom prst="rect">
            <a:avLst/>
          </a:prstGeom>
          <a:noFill/>
          <a:ln/>
        </p:spPr>
        <p:txBody>
          <a:bodyPr wrap="square" lIns="36576" tIns="0" rIns="36576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80" b="1" i="0">
                <a:solidFill>
                  <a:srgbClr val="5B3BA8"/>
                </a:solidFill>
                <a:latin typeface="Calibri"/>
              </a:rPr>
              <a:t>FOR LEARNERS</a:t>
            </a:r>
            <a:endParaRPr lang="en-US" sz="12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Zero install, low bandwidth; first simulated circuit in under a minute.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Immediate, grounded feedback when a gate is misplaced or a state is separable.</a:t>
            </a:r>
          </a:p>
          <a:p>
            <a:pPr>
              <a:lnSpc>
                <a:spcPct val="100000"/>
              </a:lnSpc>
              <a:spcBef>
                <a:spcPts val="550"/>
              </a:spcBef>
              <a:spcAft>
                <a:spcPts val="200"/>
              </a:spcAft>
            </a:pPr>
            <a:r>
              <a:rPr sz="980" b="1" i="0">
                <a:solidFill>
                  <a:srgbClr val="5B3BA8"/>
                </a:solidFill>
                <a:latin typeface="Calibri"/>
              </a:rPr>
              <a:t>FOR EDUCATORS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Class-level mastery map, pretest/posttest, normalised gain and challenge record.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CSV/JSON export for spreadsheets or LMS import; no database required.</a:t>
            </a:r>
          </a:p>
          <a:p>
            <a:pPr>
              <a:lnSpc>
                <a:spcPct val="100000"/>
              </a:lnSpc>
              <a:spcBef>
                <a:spcPts val="550"/>
              </a:spcBef>
              <a:spcAft>
                <a:spcPts val="200"/>
              </a:spcAft>
            </a:pPr>
            <a:r>
              <a:rPr sz="980" b="1" i="0">
                <a:solidFill>
                  <a:srgbClr val="5B3BA8"/>
                </a:solidFill>
                <a:latin typeface="Calibri"/>
              </a:rPr>
              <a:t>FOR INSTITUTIONS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Low-cost quantum lab on existing laptops; no GPU or cloud queue.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Reproducible Qiskit artifacts bridge classroom work to real SDK workflows.</a:t>
            </a:r>
          </a:p>
          <a:p>
            <a:pPr>
              <a:lnSpc>
                <a:spcPct val="100000"/>
              </a:lnSpc>
              <a:spcBef>
                <a:spcPts val="550"/>
              </a:spcBef>
              <a:spcAft>
                <a:spcPts val="200"/>
              </a:spcAft>
            </a:pPr>
            <a:r>
              <a:rPr sz="980" b="1" i="0">
                <a:solidFill>
                  <a:srgbClr val="5B3BA8"/>
                </a:solidFill>
                <a:latin typeface="Calibri"/>
              </a:rPr>
              <a:t>FOR INDUSTRY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Faster onboarding for quantum software teams; a reusable simulator/analysis core.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Future Scope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1856231"/>
            <a:ext cx="7726679" cy="2606040"/>
          </a:xfrm>
          <a:prstGeom prst="rect">
            <a:avLst/>
          </a:prstGeom>
          <a:noFill/>
          <a:ln/>
        </p:spPr>
        <p:txBody>
          <a:bodyPr wrap="square" lIns="36576" tIns="0" rIns="36576" bIns="0" rtlCol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980" b="1" i="0">
                <a:solidFill>
                  <a:srgbClr val="5B3BA8"/>
                </a:solidFill>
                <a:latin typeface="Calibri"/>
              </a:rPr>
              <a:t>WHAT IS HARD</a:t>
            </a:r>
            <a:endParaRPr lang="en-US" sz="12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Browser compute ceilings; density simulation is expensive beyond small registers.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Approximate noise models; LLM latency and provider availability.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Content authoring quality; multi-user persistence is not yet included.</a:t>
            </a:r>
          </a:p>
          <a:p>
            <a:pPr>
              <a:lnSpc>
                <a:spcPct val="100000"/>
              </a:lnSpc>
              <a:spcBef>
                <a:spcPts val="550"/>
              </a:spcBef>
              <a:spcAft>
                <a:spcPts val="200"/>
              </a:spcAft>
            </a:pPr>
            <a:r>
              <a:rPr sz="980" b="1" i="0">
                <a:solidFill>
                  <a:srgbClr val="5B3BA8"/>
                </a:solidFill>
                <a:latin typeface="Calibri"/>
              </a:rPr>
              <a:t>HOW WE MITIGATE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Statevector cap + density path; deterministic fallback; server-side key; localStorage.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Content generator + agent review; explicit limitations in the README.</a:t>
            </a:r>
          </a:p>
          <a:p>
            <a:pPr>
              <a:lnSpc>
                <a:spcPct val="100000"/>
              </a:lnSpc>
              <a:spcBef>
                <a:spcPts val="550"/>
              </a:spcBef>
              <a:spcAft>
                <a:spcPts val="200"/>
              </a:spcAft>
            </a:pPr>
            <a:r>
              <a:rPr sz="980" b="1" i="0">
                <a:solidFill>
                  <a:srgbClr val="5B3BA8"/>
                </a:solidFill>
                <a:latin typeface="Calibri"/>
              </a:rPr>
              <a:t>NEXT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Qiskit Runtime/hardware labs, adaptive BKT + spaced repetition, LMS/LTI integration.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"/>
              </a:spcAft>
            </a:pPr>
            <a:r>
              <a:rPr sz="950" b="1" i="0">
                <a:solidFill>
                  <a:srgbClr val="E8639F"/>
                </a:solidFill>
                <a:latin typeface="Calibri"/>
              </a:rPr>
              <a:t>▸ </a:t>
            </a:r>
            <a:r>
              <a:rPr sz="950" b="0" i="0">
                <a:solidFill>
                  <a:srgbClr val="3A2D63"/>
                </a:solidFill>
                <a:latin typeface="Calibri"/>
              </a:rPr>
              <a:t>WebGPU simulator, VQE/QAOA/Shor modules, multilingual Chinnu, classroom pilots.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Inspiring Minds. Shaping Tomorrow.</a:t>
            </a:r>
            <a:endParaRPr lang="en-US" sz="1300" dirty="0"/>
          </a:p>
        </p:txBody>
      </p:sp>
      <p:sp>
        <p:nvSpPr>
          <p:cNvPr id="5" name="Field: GITHUB REPOSITORY"/>
          <p:cNvSpPr/>
          <p:nvPr/>
        </p:nvSpPr>
        <p:spPr>
          <a:xfrm>
            <a:off x="457200" y="329184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900" dirty="0"/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2E1B5B"/>
                </a:solidFill>
                <a:latin typeface="Calibri"/>
                <a:hlinkClick r:id="rId7"/>
              </a:rPr>
              <a:t>vtu-qiskit-fall-fest-2026/vtu-hc-q-matrix</a:t>
            </a:r>
          </a:p>
        </p:txBody>
      </p:sp>
      <p:sp>
        <p:nvSpPr>
          <p:cNvPr id="6" name="Field: DEMO VIDEO LINK"/>
          <p:cNvSpPr/>
          <p:nvPr/>
        </p:nvSpPr>
        <p:spPr>
          <a:xfrm>
            <a:off x="2834640" y="329184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/ VIDEO</a:t>
            </a:r>
            <a:endParaRPr lang="en-US" sz="900" dirty="0"/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2E1B5B"/>
                </a:solidFill>
                <a:latin typeface="Calibri"/>
                <a:hlinkClick r:id="rId8"/>
              </a:rPr>
              <a:t>chinmayrerc.github.io/q-matrix</a:t>
            </a:r>
          </a:p>
        </p:txBody>
      </p:sp>
      <p:pic>
        <p:nvPicPr>
          <p:cNvPr id="7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97280"/>
            <a:ext cx="3200400" cy="3200400"/>
          </a:xfrm>
          <a:prstGeom prst="rect">
            <a:avLst/>
          </a:prstGeom>
        </p:spPr>
      </p:pic>
      <p:pic>
        <p:nvPicPr>
          <p:cNvPr id="8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914400"/>
            <a:ext cx="822960" cy="493776"/>
          </a:xfrm>
          <a:prstGeom prst="rect">
            <a:avLst/>
          </a:prstGeom>
        </p:spPr>
      </p:pic>
      <p:pic>
        <p:nvPicPr>
          <p:cNvPr id="9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840480"/>
            <a:ext cx="548640" cy="329184"/>
          </a:xfrm>
          <a:prstGeom prst="rect">
            <a:avLst/>
          </a:prstGeom>
        </p:spPr>
      </p:pic>
      <p:pic>
        <p:nvPicPr>
          <p:cNvPr id="10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023360"/>
            <a:ext cx="45720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3675887"/>
            <a:ext cx="4937760" cy="969264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50"/>
              </a:spcAft>
            </a:pPr>
            <a:r>
              <a:rPr sz="800" b="0" i="0">
                <a:solidFill>
                  <a:srgbClr val="2E1B5B"/>
                </a:solidFill>
                <a:latin typeface="Calibri"/>
                <a:hlinkClick r:id="rId8"/>
              </a:rPr>
              <a:t>Live demo · https://chinmayrerc.github.io/q-matrix</a:t>
            </a:r>
          </a:p>
          <a:p>
            <a:pPr>
              <a:spcAft>
                <a:spcPts val="150"/>
              </a:spcAft>
            </a:pPr>
            <a:r>
              <a:rPr sz="800" b="0" i="0">
                <a:solidFill>
                  <a:srgbClr val="2E1B5B"/>
                </a:solidFill>
                <a:latin typeface="Calibri"/>
                <a:hlinkClick r:id="rId9"/>
              </a:rPr>
              <a:t>Demo video (24 s) · github.com/ChinmayRERC/q-matrix/blob/main/docs/q-matrix-demo.mp4</a:t>
            </a:r>
          </a:p>
          <a:p>
            <a:pPr>
              <a:spcAft>
                <a:spcPts val="150"/>
              </a:spcAft>
            </a:pPr>
            <a:r>
              <a:rPr sz="800" b="0" i="0">
                <a:solidFill>
                  <a:srgbClr val="2E1B5B"/>
                </a:solidFill>
                <a:latin typeface="Calibri"/>
                <a:hlinkClick r:id="rId10"/>
              </a:rPr>
              <a:t>API · https://q-matrix.onrender.com</a:t>
            </a:r>
          </a:p>
          <a:p>
            <a:r>
              <a:rPr sz="800" b="1" i="0">
                <a:solidFill>
                  <a:srgbClr val="E8639F"/>
                </a:solidFill>
                <a:latin typeface="Calibri"/>
              </a:rPr>
              <a:t>Team code · VTU-QFF-HC-0024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iskit Fall Fest">
  <a:themeElements>
    <a:clrScheme name="Qiskit Fall Fest">
      <a:dk1>
        <a:srgbClr val="2E1B5B"/>
      </a:dk1>
      <a:lt1>
        <a:srgbClr val="FFFFFF"/>
      </a:lt1>
      <a:dk2>
        <a:srgbClr val="4B2BA8"/>
      </a:dk2>
      <a:lt2>
        <a:srgbClr val="DDE2FC"/>
      </a:lt2>
      <a:accent1>
        <a:srgbClr val="E0558F"/>
      </a:accent1>
      <a:accent2>
        <a:srgbClr val="6B3FD4"/>
      </a:accent2>
      <a:accent3>
        <a:srgbClr val="F5C33B"/>
      </a:accent3>
      <a:accent4>
        <a:srgbClr val="3B82F6"/>
      </a:accent4>
      <a:accent5>
        <a:srgbClr val="7B58B8"/>
      </a:accent5>
      <a:accent6>
        <a:srgbClr val="2BB5A0"/>
      </a:accent6>
      <a:hlink>
        <a:srgbClr val="6B3FD4"/>
      </a:hlink>
      <a:folHlink>
        <a:srgbClr val="4B2BA8"/>
      </a:folHlink>
    </a:clrScheme>
    <a:fontScheme name="Qiskit Fall Fest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Q-matrix · Quantum Space</dc:title>
  <cp:lastModifiedBy>python-pptx</cp:lastModifiedBy>
  <cp:revision>1</cp:revision>
  <dcterms:modified xsi:type="dcterms:W3CDTF">2026-10-23T08:49:09Z</dcterms:modified>
  <dc:creator>Team Q-matrix (VTU-QFF-HC-0024)</dc:creator>
  <dc:subject>Qiskit Fall Fest 2026 · agent-reviewed quantum learning platform</dc:subject>
  <cp:keywords>Qiskit, quantum education, BKT, NVIDIA, Q-matrix, Quantum Space</cp:keywords>
</cp:coreProperties>
</file>